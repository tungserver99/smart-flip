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  <p:sldId id="265" r:id="rId11"/>
    <p:sldId id="266" r:id="rId12"/>
  </p:sldIdLst>
  <p:sldSz cx="12192000" cy="6858000"/>
  <p:notesSz cx="6858000" cy="9144000"/>
  <p:defaultTextStyle>
    <a:defPPr>
      <a:defRPr lang="en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72"/>
  </p:normalViewPr>
  <p:slideViewPr>
    <p:cSldViewPr snapToGrid="0">
      <p:cViewPr varScale="1">
        <p:scale>
          <a:sx n="95" d="100"/>
          <a:sy n="95" d="100"/>
        </p:scale>
        <p:origin x="200" y="5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0T04:27:23.6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24575,'53'0'0,"-19"0"0,29 0 0,-28 0 0,-2 0 0,2 0 0,-1 0 0,-1 0 0,2 0 0,-5 0 0,-1 0 0,-1 0 0,-2 0 0,-2 0 0,-2 0 0,0 0 0,0 0 0,1 0 0,-2 0 0,-2 0 0,0 0 0,-1 0 0,0 0 0,-1 0 0,-1 0 0,3 0 0,0 0 0,2 0 0,-1 0 0,-1 0 0,-1 0 0,1 0 0,4 0 0,2 0 0,1 0 0,0 0 0,-4 0 0,4 0 0,0 0 0,-3 0 0,-1 0 0,-3 0 0,-3 0 0,2 3 0,-2 1 0,-1 1 0,1 2 0,-2 0 0,2-1 0,2 2 0,-1-1 0,1 1 0,4 3 0,-1-1 0,1 2 0,0-1 0,-2 2 0,2 0 0,-1 1 0,-3-1 0,-1-1 0,-2 0 0,0 2 0,3 0 0,-1 0 0,-1 2 0,0-2 0,-2-1 0,2 2 0,-2-1 0,-1 0 0,0 1 0,-2-2 0,-1 3 0,0 2 0,-1-3 0,2 1 0,1-2 0,-1 0 0,2 3 0,-2 0 0,0 1 0,0 0 0,-1-1 0,-1 2 0,-1-3 0,-3 0 0,0 0 0,0 0 0,-2-1 0,-1-2 0,-1 0 0,2-2 0,-1 0 0,1 3 0,-2 0 0,-1 2 0,2-1 0,1-1 0,-1-1 0,0-3 0,-2 1 0,1-1 0,-1-1 0,2 1 0,0 0 0,1-2 0,-1 1 0,-2-1 0,0 1 0,0 1 0,0 2 0,0 1 0,0 2 0,0 1 0,0 0 0,0 0 0,0 0 0,0 0 0,0-2 0,0-2 0,0-2 0,0-1 0,0-1 0,0 1 0,0 0 0,0 1 0,0-1 0,0 1 0,0 0 0,0-1 0,0 1 0,0-2 0,0 1 0,0 0 0,0-1 0,0 1 0,0 0 0,0 0 0,0 0 0,0 0 0,0-1 0,0 1 0,0-1 0,0 1 0,0 3 0,0 6 0,0 7 0,0 10 0,0 4 0,0 5 0,0 4 0,0-3 0,0-1 0,0-11 0,0-5 0,0-3 0,0-2 0,0 1 0,0-1 0,0 0 0,0-1 0,0 3 0,0 1 0,0 0 0,0 3 0,0-3 0,0 0 0,0-1 0,0-3 0,0-1 0,0-1 0,0-2 0,0 1 0,0 1 0,0 1 0,0 1 0,0 0 0,0 1 0,0-1 0,0 1 0,0-1 0,0 1 0,2-1 0,1-1 0,0 1 0,1-3 0,-2 0 0,3-1 0,0 2 0,1 4 0,1 3 0,0 4 0,1 6 0,-2 3 0,1 0 0,2 1 0,0-4 0,0 0 0,0 0 0,0-5 0,-1 0 0,3-4 0,-1-3 0,1 3 0,-1-2 0,0 3 0,2 2 0,-1 2 0,1 2 0,0 1 0,0-2 0,2-1 0,1 0 0,1 1 0,1 2 0,-2-1 0,3 0 0,-2-3 0,-2-1 0,-2-2 0,1-1 0,1 2 0,2-1 0,2 0 0,-1 1 0,1-1 0,0 1 0,2 2 0,1 2 0,1 2 0,-2-3 0,0-1 0,0-3 0,2-4 0,-2-3 0,-1-3 0,2 0 0,2 1 0,4 3 0,8 1 0,1 0 0,8-1 0,3-1 0,6 1 0,5 2 0,4 2 0,13 5 0,-1-2 0,2-1 0,-3-1 0,-11-6 0,3 1 0,1-2 0,-1-2 0,2 0 0,-3 1 0,-4-2 0,-2-1 0,0 0 0,0-3 0,1 0 0,-2 0 0,-3-1 0,-2 0 0,0 0 0,-3-2 0,-1 1 0,11-1 0,5 2 0,8 1 0,3 0 0,-6-2 0,7-1 0,1 0 0,4 0 0,2 1 0,-6-2 0,-2 1 0,-5-1 0,-5 1 0,-1-1 0,-9-2 0,-5-1 0,-1-1 0,-4-1 0,7-1 0,0 2 0,5 1 0,0-3 0,5-1 0,0-2 0,1-1 0,8 0 0,2 0 0,4 0 0,2 0 0,-3 0 0,-2 0 0,-7 0 0,-3 0 0,9 0 0,-2 0 0,4 0 0,-4 0 0,-6 0 0,3 0 0,-1 0 0,-5 0 0,-3 0 0,-3 0 0,-3 0 0,-2 0 0,-3 0 0,-6 0 0,-4 0 0,-3 0 0,0 0 0,2 0 0,3 0 0,3 0 0,2 0 0,3 0 0,0 0 0,5 0 0,3 0 0,1 0 0,-4 0 0,-6 0 0,-3 0 0,-8 0 0,-4 0 0,-4 0 0,0 0 0,2 0 0,2 0 0,-3 0 0,4 0 0,3 0 0,2 2 0,2 1 0,1 3 0,0 3 0,3-2 0,0 2 0,-5-3 0,-5-2 0,-6 1 0,-1-2 0,0 1 0,4 2 0,0 0 0,0 2 0,1 0 0,4-2 0,-2 2 0,3 1 0,-4-1 0,-3 1 0,-4-1 0,-3-3 0,-5-2 0,-5 1 0,-2-2 0,-1 0 0,2 2 0,5-1 0,7 2 0,11 2 0,8 3 0,9 2 0,9 2 0,2 0 0,18 3 0,-5 1 0,-6-1 0,-9-1 0,-18-4 0,-3-2 0,-7 1 0,-9-3 0,-4 0 0,-5-2 0,-4-1 0,1 3 0,-4-1 0,0 1 0,-2-2 0,1-2 0,1 0 0,3 2 0,3 2 0,9 2 0,8 1 0,8 4 0,4 3 0,2 4 0,-1 3 0,-2-3 0,-5-1 0,-7-3 0,-8-4 0,-6-2 0,-5-3 0,-2-1 0,-1-1 0,-1-1 0,-1 2 0,-3 0 0,0 1 0,0 1 0,2 0 0,-1-1 0,1 1 0,5 0 0,4 4 0,9 5 0,6 8 0,5 6 0,3 5 0,-1 0 0,0 0 0,-6-3 0,-5-4 0,-4-5 0,-6-6 0,-4-3 0,-3-4 0,-3-3 0,-1 1 0,4 6 0,-1 4 0,3 4 0,3 4 0,0-2 0,2 1 0,-1-1 0,-3-6 0,0-2 0,0-3 0,-3-2 0,-2-1 0,-4-2 0,-1-2 0,-1 0 0,0 0 0,0-1 0,0 1 0,2 1 0,0 2 0,3 6 0,2 6 0,2 7 0,0 4 0,-1-2 0,-2-4 0,-2-8 0,1-7 0,-3-3 0,0-2 0,-1 0 0,0 1 0,-1 0 0,0 1 0,0-1 0,0-1 0,0 0 0,0 0 0,0 0 0,2 3 0,2 5 0,4 6 0,2 4 0,-1-2 0,-1-1 0,0-5 0,-2-1 0,-1-5 0,-2 0 0,-1-5 0,1-1 0,0 0 0,-1 0 0,-2 1 0,0 1 0,0-4 0,0-1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3C8D5-5980-75DF-5AE9-F910C1C18D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2667EA-CC73-BC34-420E-909DE8459B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F875A5-E26C-800A-63E7-4F663823C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E1BC9-3348-B546-846C-77F54C4D54D4}" type="datetimeFigureOut">
              <a:rPr lang="en-VN" smtClean="0"/>
              <a:t>30/1/26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FB05CD-E026-A3EB-D329-8569A0417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947B02-FDD8-E35D-9524-D3891237A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35978-735E-6A4A-803E-ECDE2F2653CC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40034511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C8099-BD2F-1A00-6AD9-9BDF6C48C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53BA03-5D50-10B5-55B9-14E92D4140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1D43BF-5E27-642D-EFAB-F857CC9140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E1BC9-3348-B546-846C-77F54C4D54D4}" type="datetimeFigureOut">
              <a:rPr lang="en-VN" smtClean="0"/>
              <a:t>30/1/26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54D60B-72C9-0ABC-E710-771BF2A40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3B0E3D-2E3A-9666-0BFB-B1E9E6EED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35978-735E-6A4A-803E-ECDE2F2653CC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3537949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1E908-FB88-9741-CEB0-D4B254779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95211D-25A7-7374-8529-67E2DB9972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FDD10D-937D-DA92-7AB9-0286C9E16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E1BC9-3348-B546-846C-77F54C4D54D4}" type="datetimeFigureOut">
              <a:rPr lang="en-VN" smtClean="0"/>
              <a:t>30/1/26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C242D9-84F0-1FF2-142F-E551FC3262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1B5C57-F8A8-5CDD-D151-3EA8F30F4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35978-735E-6A4A-803E-ECDE2F2653CC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539965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039EF-6638-33F7-B70E-B58867F84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A112C0-53D1-FCCF-E6A8-4677020052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F6E19F-6ECD-965F-3C5A-AA83036095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080586-E2ED-1804-7617-8A440709E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E1BC9-3348-B546-846C-77F54C4D54D4}" type="datetimeFigureOut">
              <a:rPr lang="en-VN" smtClean="0"/>
              <a:t>30/1/26</a:t>
            </a:fld>
            <a:endParaRPr 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6DE05-5054-7473-84F6-C6DBEB092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2C2534-F8C0-15C5-8668-FFD7EBEBC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35978-735E-6A4A-803E-ECDE2F2653CC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8333410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DA8FD-38E9-DEFE-9A9B-09B970AEE3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86D28C-CA5F-DA21-846B-F9E05E6187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F183AF-F2A3-6CDB-A574-1FA0F7EEEF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B3FCB1-23CB-D34F-1685-0CD14FDEB6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2F1331-1ABA-F271-FC85-8DA7AB0116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ACBB65D-C479-759F-6694-2CB9EA854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E1BC9-3348-B546-846C-77F54C4D54D4}" type="datetimeFigureOut">
              <a:rPr lang="en-VN" smtClean="0"/>
              <a:t>30/1/26</a:t>
            </a:fld>
            <a:endParaRPr lang="en-V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7143F3-EA57-318B-F54F-457EF9FF7F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913E14B-AE7D-B840-CE22-A9C8C8E8D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35978-735E-6A4A-803E-ECDE2F2653CC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8378801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D690C-80B3-4D7F-772F-FC3627615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B9A73A-6B0A-A349-A9AF-4800A6D0C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E1BC9-3348-B546-846C-77F54C4D54D4}" type="datetimeFigureOut">
              <a:rPr lang="en-VN" smtClean="0"/>
              <a:t>30/1/26</a:t>
            </a:fld>
            <a:endParaRPr lang="en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9C9A3E-F9FC-1FAF-B0BA-F85CC91F3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6EFB87-BEC3-596F-285C-621BA4704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35978-735E-6A4A-803E-ECDE2F2653CC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5224364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C94BFD-8C88-B3F0-FA8D-650B2C67D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E1BC9-3348-B546-846C-77F54C4D54D4}" type="datetimeFigureOut">
              <a:rPr lang="en-VN" smtClean="0"/>
              <a:t>30/1/26</a:t>
            </a:fld>
            <a:endParaRPr lang="en-V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4ECBB7-CE72-B6B0-9127-E4D41A45E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888C9E-1728-ABD2-D869-FCF16E343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35978-735E-6A4A-803E-ECDE2F2653CC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5983094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ECD86-AA77-7D53-AF16-FB9C1D339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756F43-4D17-2803-427C-F295C2BCB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F94E92-74EE-2E32-A015-9D44DC8FBE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EB1DC3-D798-AFCB-F66D-5D72F3D5F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E1BC9-3348-B546-846C-77F54C4D54D4}" type="datetimeFigureOut">
              <a:rPr lang="en-VN" smtClean="0"/>
              <a:t>30/1/26</a:t>
            </a:fld>
            <a:endParaRPr 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CC312F-BC0C-B1A1-5A07-9B4336E7B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951D64-F002-4AF8-B5B3-D90E8E002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35978-735E-6A4A-803E-ECDE2F2653CC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41601102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E62CA-9F7F-91CB-4621-998EEBE88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D5313D7-1F25-1D33-CD6E-3733BB031C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532BC6-1075-A040-C20D-A2DE6E49DD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4C9212-6217-9FAB-E2EF-47A0F3D4C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E1BC9-3348-B546-846C-77F54C4D54D4}" type="datetimeFigureOut">
              <a:rPr lang="en-VN" smtClean="0"/>
              <a:t>30/1/26</a:t>
            </a:fld>
            <a:endParaRPr 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7811CD-053E-A747-3145-D8FF7502D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B6910B-AF18-44E4-BD11-394005168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35978-735E-6A4A-803E-ECDE2F2653CC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952463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60B8D-3435-6E43-DC36-A57481B9E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178EED-B75D-76C8-163E-F052850EBB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51E581-D8DF-F684-5CDE-7BBF93C7C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E1BC9-3348-B546-846C-77F54C4D54D4}" type="datetimeFigureOut">
              <a:rPr lang="en-VN" smtClean="0"/>
              <a:t>30/1/26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6A6451-89A8-C211-65B6-62922EE70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AE2C0F-5812-5C75-5069-EF39340DC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35978-735E-6A4A-803E-ECDE2F2653CC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51815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B2DAFEF-1EDF-AE83-B444-4CEBD9FA03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13D91B-E74E-3F5A-F4E3-942616031C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52B6E7-ABFA-2CB6-C712-3C6CBE3CA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E1BC9-3348-B546-846C-77F54C4D54D4}" type="datetimeFigureOut">
              <a:rPr lang="en-VN" smtClean="0"/>
              <a:t>30/1/26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CD566F-F992-2279-EBBB-FD7F6633F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0FE54F-F52E-380F-FD56-3250A371D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35978-735E-6A4A-803E-ECDE2F2653CC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3660845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364DFE-92C8-67A7-0210-ACD1201A6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22650C-BEFB-43A9-A418-E30E002877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D02E5-515D-DA43-B8B5-5866AA0EBA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8E1BC9-3348-B546-846C-77F54C4D54D4}" type="datetimeFigureOut">
              <a:rPr lang="en-VN" smtClean="0"/>
              <a:t>30/1/26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736D92-6261-3AA6-A059-ACEBB7F832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04CA90-F518-E1D3-A5B8-24A1BCB530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D35978-735E-6A4A-803E-ECDE2F2653CC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6301568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7AD54-A4A1-FC24-19B9-A8E4026E06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88845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VN" dirty="0"/>
              <a:t>Post-correction: Increasing quantization performance with smart flipping</a:t>
            </a:r>
          </a:p>
        </p:txBody>
      </p:sp>
    </p:spTree>
    <p:extLst>
      <p:ext uri="{BB962C8B-B14F-4D97-AF65-F5344CB8AC3E}">
        <p14:creationId xmlns:p14="http://schemas.microsoft.com/office/powerpoint/2010/main" val="34548268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F1D28-7EEC-7002-7518-BC9CFDB57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Weight-Only Layer-wise Post-Training Quantization </a:t>
            </a:r>
            <a:endParaRPr lang="en-V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842EF4F-3C62-7B56-EE43-53762087E14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b="1" dirty="0">
                    <a:effectLst/>
                    <a:latin typeface="Google Sans Text"/>
                  </a:rPr>
                  <a:t>1. Input Components</a:t>
                </a:r>
                <a:endParaRPr lang="en-US" b="1" dirty="0">
                  <a:effectLst/>
                  <a:latin typeface="Google Sans"/>
                </a:endParaRPr>
              </a:p>
              <a:p>
                <a:r>
                  <a:rPr lang="en-US" b="1" dirty="0">
                    <a:effectLst/>
                    <a:latin typeface="Google Sans Text"/>
                  </a:rPr>
                  <a:t>Pre-trained Model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effectLst/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1" i="1" dirty="0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 smtClean="0">
                            <a:effectLst/>
                            <a:latin typeface="Cambria Math" panose="02040503050406030204" pitchFamily="18" charset="0"/>
                          </a:rPr>
                          <m:t>𝑾</m:t>
                        </m:r>
                      </m:e>
                      <m:sub>
                        <m:r>
                          <a:rPr lang="en-US" b="1" i="1" dirty="0" smtClean="0">
                            <a:effectLst/>
                            <a:latin typeface="Cambria Math" panose="02040503050406030204" pitchFamily="18" charset="0"/>
                          </a:rPr>
                          <m:t>𝒇𝒑</m:t>
                        </m:r>
                        <m:r>
                          <a:rPr lang="en-US" b="1" i="1" dirty="0" smtClean="0">
                            <a:effectLst/>
                            <a:latin typeface="Cambria Math" panose="02040503050406030204" pitchFamily="18" charset="0"/>
                          </a:rPr>
                          <m:t>𝟏𝟔</m:t>
                        </m:r>
                      </m:sub>
                    </m:sSub>
                    <m:r>
                      <a:rPr lang="en-US" b="1" i="1" dirty="0" smtClean="0">
                        <a:effectLst/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1" dirty="0">
                    <a:effectLst/>
                    <a:latin typeface="Google Sans Text"/>
                  </a:rPr>
                  <a:t>:</a:t>
                </a:r>
                <a:r>
                  <a:rPr lang="en-US" dirty="0">
                    <a:effectLst/>
                    <a:latin typeface="Google Sans Text"/>
                  </a:rPr>
                  <a:t> A high-precision model (e.g., Llama 3, Mistral) in 16-bit floating point.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b="1" dirty="0">
                    <a:effectLst/>
                    <a:latin typeface="Google Sans Text"/>
                  </a:rPr>
                  <a:t>Calibration Dataset (X):</a:t>
                </a:r>
                <a:r>
                  <a:rPr lang="en-US" dirty="0">
                    <a:effectLst/>
                    <a:latin typeface="Google Sans Text"/>
                  </a:rPr>
                  <a:t> A small, representative set of unlabeled data (typically 128–512 samples) used to capture activation statistics and feature importance.</a:t>
                </a:r>
              </a:p>
              <a:p>
                <a:pPr marL="0" indent="0">
                  <a:buNone/>
                </a:pPr>
                <a:r>
                  <a:rPr lang="en-US" dirty="0">
                    <a:effectLst/>
                    <a:latin typeface="Google Sans Text"/>
                  </a:rPr>
                  <a:t>Note: Layer-</a:t>
                </a:r>
                <a:r>
                  <a:rPr lang="en-US" dirty="0">
                    <a:latin typeface="Google Sans Text"/>
                  </a:rPr>
                  <a:t>wise: Optimize for each </a:t>
                </a:r>
                <a:r>
                  <a:rPr lang="en-US" dirty="0">
                    <a:solidFill>
                      <a:srgbClr val="FF0000"/>
                    </a:solidFill>
                    <a:latin typeface="Google Sans Text"/>
                  </a:rPr>
                  <a:t>linear</a:t>
                </a:r>
                <a:r>
                  <a:rPr lang="en-US" dirty="0">
                    <a:latin typeface="Google Sans Text"/>
                  </a:rPr>
                  <a:t> block </a:t>
                </a:r>
                <a:r>
                  <a:rPr lang="en-US" dirty="0">
                    <a:solidFill>
                      <a:srgbClr val="FF0000"/>
                    </a:solidFill>
                    <a:latin typeface="Google Sans Text"/>
                  </a:rPr>
                  <a:t>independently</a:t>
                </a:r>
                <a:endParaRPr lang="en-US" dirty="0">
                  <a:solidFill>
                    <a:srgbClr val="FF0000"/>
                  </a:solidFill>
                  <a:effectLst/>
                  <a:latin typeface="Google Sans Text"/>
                </a:endParaRPr>
              </a:p>
              <a:p>
                <a:endParaRPr lang="en-V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842EF4F-3C62-7B56-EE43-53762087E1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 r="-362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21707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2AAE2-552D-8FAB-D5A0-E419F07E0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46455"/>
          </a:xfrm>
        </p:spPr>
        <p:txBody>
          <a:bodyPr>
            <a:normAutofit fontScale="90000"/>
          </a:bodyPr>
          <a:lstStyle/>
          <a:p>
            <a:r>
              <a:rPr lang="en-US" dirty="0"/>
              <a:t>Objective function</a:t>
            </a:r>
            <a:br>
              <a:rPr lang="en-US" dirty="0"/>
            </a:br>
            <a:endParaRPr lang="en-V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6F8F733-B315-E997-ECD8-3F3D875D30B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25575"/>
                <a:ext cx="10515600" cy="2266316"/>
              </a:xfrm>
            </p:spPr>
            <p:txBody>
              <a:bodyPr/>
              <a:lstStyle/>
              <a:p>
                <a:r>
                  <a:rPr lang="en-US" dirty="0"/>
                  <a:t>The fundamental goal is to find a quantized weight matrix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that minimizes the "Reconstruction Error" of the layer's output relative to the original model.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b="0" i="0" dirty="0" smtClean="0"/>
                            <m:t>arg</m:t>
                          </m:r>
                          <m:r>
                            <m:rPr>
                              <m:nor/>
                            </m:rPr>
                            <a:rPr lang="en-US" b="0" i="0" dirty="0" smtClean="0"/>
                            <m:t> </m:t>
                          </m:r>
                          <m:r>
                            <m:rPr>
                              <m:nor/>
                            </m:rPr>
                            <a:rPr lang="en-US" b="0" i="0" dirty="0" smtClean="0"/>
                            <m:t>min</m:t>
                          </m:r>
                        </m:e>
                        <m:sub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sub>
                          </m:sSub>
                        </m:sub>
                      </m:sSub>
                      <m:r>
                        <m:rPr>
                          <m:nor/>
                        </m:rPr>
                        <a:rPr lang="en-US" b="0" i="0" dirty="0" smtClean="0"/>
                        <m:t> </m:t>
                      </m:r>
                      <m:sSubSup>
                        <m:sSubSup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dirty="0" smtClean="0">
                                          <a:latin typeface="Cambria Math" panose="02040503050406030204" pitchFamily="18" charset="0"/>
                                        </a:rPr>
                                        <m:t>𝑊𝑋</m:t>
                                      </m:r>
                                      <m:r>
                                        <a:rPr lang="en-US" b="0" i="1" dirty="0" smtClean="0">
                                          <a:latin typeface="Cambria Math" panose="02040503050406030204" pitchFamily="18" charset="0"/>
                                        </a:rPr>
                                        <m:t> − </m:t>
                                      </m:r>
                                      <m:r>
                                        <a:rPr lang="en-US" i="1" dirty="0" smtClean="0">
                                          <a:latin typeface="Cambria Math" panose="02040503050406030204" pitchFamily="18" charset="0"/>
                                        </a:rPr>
                                        <m:t>𝑊</m:t>
                                      </m:r>
                                    </m:e>
                                    <m:sub>
                                      <m:r>
                                        <a:rPr lang="en-US" b="0" i="1" dirty="0" smtClean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sub>
                                  </m:sSub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d>
                            </m:e>
                          </m:d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V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6F8F733-B315-E997-ECD8-3F3D875D30B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25575"/>
                <a:ext cx="10515600" cy="2266316"/>
              </a:xfrm>
              <a:blipFill>
                <a:blip r:embed="rId2"/>
                <a:stretch>
                  <a:fillRect l="-1086" t="-3911" r="-121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3E51977-8618-695B-222F-6D44CA88B5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5253914"/>
              </p:ext>
            </p:extLst>
          </p:nvPr>
        </p:nvGraphicFramePr>
        <p:xfrm>
          <a:off x="2900680" y="4194175"/>
          <a:ext cx="939800" cy="1112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69900">
                  <a:extLst>
                    <a:ext uri="{9D8B030D-6E8A-4147-A177-3AD203B41FA5}">
                      <a16:colId xmlns:a16="http://schemas.microsoft.com/office/drawing/2014/main" val="414559939"/>
                    </a:ext>
                  </a:extLst>
                </a:gridCol>
                <a:gridCol w="469900">
                  <a:extLst>
                    <a:ext uri="{9D8B030D-6E8A-4147-A177-3AD203B41FA5}">
                      <a16:colId xmlns:a16="http://schemas.microsoft.com/office/drawing/2014/main" val="39951982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VN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VN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29879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V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V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05533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V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V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306396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703DBF0-AF76-FDD5-BAD0-4A69D2C046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8373774"/>
              </p:ext>
            </p:extLst>
          </p:nvPr>
        </p:nvGraphicFramePr>
        <p:xfrm>
          <a:off x="4681220" y="4194175"/>
          <a:ext cx="1414780" cy="741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3695">
                  <a:extLst>
                    <a:ext uri="{9D8B030D-6E8A-4147-A177-3AD203B41FA5}">
                      <a16:colId xmlns:a16="http://schemas.microsoft.com/office/drawing/2014/main" val="414559939"/>
                    </a:ext>
                  </a:extLst>
                </a:gridCol>
                <a:gridCol w="353695">
                  <a:extLst>
                    <a:ext uri="{9D8B030D-6E8A-4147-A177-3AD203B41FA5}">
                      <a16:colId xmlns:a16="http://schemas.microsoft.com/office/drawing/2014/main" val="3995198289"/>
                    </a:ext>
                  </a:extLst>
                </a:gridCol>
                <a:gridCol w="353284">
                  <a:extLst>
                    <a:ext uri="{9D8B030D-6E8A-4147-A177-3AD203B41FA5}">
                      <a16:colId xmlns:a16="http://schemas.microsoft.com/office/drawing/2014/main" val="2714586304"/>
                    </a:ext>
                  </a:extLst>
                </a:gridCol>
                <a:gridCol w="354106">
                  <a:extLst>
                    <a:ext uri="{9D8B030D-6E8A-4147-A177-3AD203B41FA5}">
                      <a16:colId xmlns:a16="http://schemas.microsoft.com/office/drawing/2014/main" val="22300133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VN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VN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VN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VN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29879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VN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VN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VN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VN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055331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D1A1CB5D-BCD4-969B-8626-F64ED351378B}"/>
              </a:ext>
            </a:extLst>
          </p:cNvPr>
          <p:cNvSpPr txBox="1"/>
          <p:nvPr/>
        </p:nvSpPr>
        <p:spPr>
          <a:xfrm>
            <a:off x="2311834" y="4587478"/>
            <a:ext cx="336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dirty="0"/>
              <a:t>O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F7F6F5-4453-7704-D9BB-C5EAEC95183D}"/>
              </a:ext>
            </a:extLst>
          </p:cNvPr>
          <p:cNvSpPr txBox="1"/>
          <p:nvPr/>
        </p:nvSpPr>
        <p:spPr>
          <a:xfrm>
            <a:off x="3202104" y="3819089"/>
            <a:ext cx="2423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dirty="0"/>
              <a:t>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DD2F2E-DBF5-BCC4-648C-17151674BFE0}"/>
              </a:ext>
            </a:extLst>
          </p:cNvPr>
          <p:cNvSpPr txBox="1"/>
          <p:nvPr/>
        </p:nvSpPr>
        <p:spPr>
          <a:xfrm>
            <a:off x="4377932" y="4419882"/>
            <a:ext cx="2423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dirty="0"/>
              <a:t>I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B975AD5-1550-2006-F9E5-3C26213A030B}"/>
              </a:ext>
            </a:extLst>
          </p:cNvPr>
          <p:cNvSpPr txBox="1"/>
          <p:nvPr/>
        </p:nvSpPr>
        <p:spPr>
          <a:xfrm>
            <a:off x="5267423" y="3721220"/>
            <a:ext cx="333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dirty="0"/>
              <a:t>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882D14B-764D-2B02-54F4-0476A4BF0624}"/>
              </a:ext>
            </a:extLst>
          </p:cNvPr>
          <p:cNvSpPr txBox="1"/>
          <p:nvPr/>
        </p:nvSpPr>
        <p:spPr>
          <a:xfrm>
            <a:off x="1164873" y="5808979"/>
            <a:ext cx="3195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dirty="0"/>
              <a:t>out_feature (O) x inp_feature (I)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C1F7A8-AD16-5233-18A6-CE8170497553}"/>
              </a:ext>
            </a:extLst>
          </p:cNvPr>
          <p:cNvSpPr txBox="1"/>
          <p:nvPr/>
        </p:nvSpPr>
        <p:spPr>
          <a:xfrm>
            <a:off x="5015214" y="5808979"/>
            <a:ext cx="2841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dirty="0"/>
              <a:t>inp_feature (I) x samples (N)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711927F-D765-4416-5CA7-9B250886A7F2}"/>
              </a:ext>
            </a:extLst>
          </p:cNvPr>
          <p:cNvSpPr txBox="1"/>
          <p:nvPr/>
        </p:nvSpPr>
        <p:spPr>
          <a:xfrm>
            <a:off x="6938682" y="441988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dirty="0"/>
              <a:t>=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B3B2B73A-E1D8-1E8D-9AC7-820DABA90B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6816528"/>
              </p:ext>
            </p:extLst>
          </p:nvPr>
        </p:nvGraphicFramePr>
        <p:xfrm>
          <a:off x="7807724" y="4155396"/>
          <a:ext cx="1591772" cy="1112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7943">
                  <a:extLst>
                    <a:ext uri="{9D8B030D-6E8A-4147-A177-3AD203B41FA5}">
                      <a16:colId xmlns:a16="http://schemas.microsoft.com/office/drawing/2014/main" val="414559939"/>
                    </a:ext>
                  </a:extLst>
                </a:gridCol>
                <a:gridCol w="397943">
                  <a:extLst>
                    <a:ext uri="{9D8B030D-6E8A-4147-A177-3AD203B41FA5}">
                      <a16:colId xmlns:a16="http://schemas.microsoft.com/office/drawing/2014/main" val="3995198289"/>
                    </a:ext>
                  </a:extLst>
                </a:gridCol>
                <a:gridCol w="397943">
                  <a:extLst>
                    <a:ext uri="{9D8B030D-6E8A-4147-A177-3AD203B41FA5}">
                      <a16:colId xmlns:a16="http://schemas.microsoft.com/office/drawing/2014/main" val="2027985360"/>
                    </a:ext>
                  </a:extLst>
                </a:gridCol>
                <a:gridCol w="397943">
                  <a:extLst>
                    <a:ext uri="{9D8B030D-6E8A-4147-A177-3AD203B41FA5}">
                      <a16:colId xmlns:a16="http://schemas.microsoft.com/office/drawing/2014/main" val="28631897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VN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VN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VN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VN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29879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V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V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V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V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05533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V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V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V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V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3063960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8D29F00F-9CE0-4171-6314-4EFD4D89C870}"/>
              </a:ext>
            </a:extLst>
          </p:cNvPr>
          <p:cNvSpPr txBox="1"/>
          <p:nvPr/>
        </p:nvSpPr>
        <p:spPr>
          <a:xfrm>
            <a:off x="1164873" y="6350042"/>
            <a:ext cx="58869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dirty="0"/>
              <a:t>Note: out_feature dim: are normally consider independently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0D34191-0895-0385-A089-B54FC87005CD}"/>
              </a:ext>
            </a:extLst>
          </p:cNvPr>
          <p:cNvSpPr txBox="1"/>
          <p:nvPr/>
        </p:nvSpPr>
        <p:spPr>
          <a:xfrm>
            <a:off x="4032966" y="4426344"/>
            <a:ext cx="284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dirty="0"/>
              <a:t>x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0AAA382-5BC3-5AEB-B370-AB3DE5683ED5}"/>
              </a:ext>
            </a:extLst>
          </p:cNvPr>
          <p:cNvSpPr txBox="1"/>
          <p:nvPr/>
        </p:nvSpPr>
        <p:spPr>
          <a:xfrm>
            <a:off x="7385860" y="4497832"/>
            <a:ext cx="336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dirty="0"/>
              <a:t>O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30C0553-F95B-F8BA-9060-750998726A72}"/>
              </a:ext>
            </a:extLst>
          </p:cNvPr>
          <p:cNvSpPr txBox="1"/>
          <p:nvPr/>
        </p:nvSpPr>
        <p:spPr>
          <a:xfrm>
            <a:off x="8405067" y="3779491"/>
            <a:ext cx="333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dirty="0"/>
              <a:t>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7FC8292-D9F9-562A-EEE1-3B468C56B2D3}"/>
              </a:ext>
            </a:extLst>
          </p:cNvPr>
          <p:cNvSpPr txBox="1"/>
          <p:nvPr/>
        </p:nvSpPr>
        <p:spPr>
          <a:xfrm>
            <a:off x="1842247" y="3691891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18D4D19-36E1-C011-1D58-9DBBADD7C39F}"/>
              </a:ext>
            </a:extLst>
          </p:cNvPr>
          <p:cNvSpPr txBox="1"/>
          <p:nvPr/>
        </p:nvSpPr>
        <p:spPr>
          <a:xfrm>
            <a:off x="4457150" y="3551025"/>
            <a:ext cx="389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dirty="0">
                <a:solidFill>
                  <a:srgbClr val="FF0000"/>
                </a:solidFill>
              </a:rPr>
              <a:t>W</a:t>
            </a:r>
          </a:p>
        </p:txBody>
      </p:sp>
    </p:spTree>
    <p:extLst>
      <p:ext uri="{BB962C8B-B14F-4D97-AF65-F5344CB8AC3E}">
        <p14:creationId xmlns:p14="http://schemas.microsoft.com/office/powerpoint/2010/main" val="17033494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01C7F-CC3B-CA5E-2C77-CEC92F7C5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GPTQ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165582-F4D2-9BB0-ECEA-CF2A9F62E6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VN" dirty="0"/>
                  <a:t>Approximate error, </a:t>
                </a:r>
                <a:r>
                  <a:rPr lang="en-VN" dirty="0">
                    <a:solidFill>
                      <a:srgbClr val="FF0000"/>
                    </a:solidFill>
                  </a:rPr>
                  <a:t>assuming first order error = 0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  <m:sSup>
                        <m:sSupPr>
                          <m:ctrlPr>
                            <a:rPr lang="en-US" b="0" i="0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b="0" i="0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w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b="0" i="0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w</m:t>
                      </m:r>
                    </m:oMath>
                  </m:oMathPara>
                </a14:m>
                <a:endParaRPr lang="en-V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165582-F4D2-9BB0-ECEA-CF2A9F62E6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B65983A1-8626-00E4-BEC0-602EC4621536}"/>
              </a:ext>
            </a:extLst>
          </p:cNvPr>
          <p:cNvSpPr txBox="1"/>
          <p:nvPr/>
        </p:nvSpPr>
        <p:spPr>
          <a:xfrm>
            <a:off x="838200" y="3429000"/>
            <a:ext cx="25346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sz="2800" dirty="0"/>
              <a:t>With constraint: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303A219-9B65-BC1A-0B0E-327811B84D02}"/>
                  </a:ext>
                </a:extLst>
              </p:cNvPr>
              <p:cNvSpPr txBox="1"/>
              <p:nvPr/>
            </p:nvSpPr>
            <p:spPr>
              <a:xfrm>
                <a:off x="4471561" y="3629491"/>
                <a:ext cx="2557688" cy="5032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sz="28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  <m:r>
                        <m:rPr>
                          <m:sty m:val="p"/>
                        </m:rPr>
                        <a:rPr lang="en-US" sz="2800" b="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w</m:t>
                      </m:r>
                      <m:r>
                        <a:rPr lang="en-US" sz="2800" b="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b="0" i="0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0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800" b="0" i="0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q</m:t>
                          </m:r>
                        </m:sub>
                      </m:sSub>
                      <m:r>
                        <a:rPr lang="en-US" sz="2800" b="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sz="2800" b="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w</m:t>
                      </m:r>
                    </m:oMath>
                  </m:oMathPara>
                </a14:m>
                <a:endParaRPr lang="en-VN" sz="28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303A219-9B65-BC1A-0B0E-327811B84D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1561" y="3629491"/>
                <a:ext cx="2557688" cy="503215"/>
              </a:xfrm>
              <a:prstGeom prst="rect">
                <a:avLst/>
              </a:prstGeom>
              <a:blipFill>
                <a:blip r:embed="rId3"/>
                <a:stretch>
                  <a:fillRect l="-1485" r="-990" b="-21951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A163D196-D7E3-3161-B0CF-366A25BF9F63}"/>
              </a:ext>
            </a:extLst>
          </p:cNvPr>
          <p:cNvSpPr txBox="1"/>
          <p:nvPr/>
        </p:nvSpPr>
        <p:spPr>
          <a:xfrm>
            <a:off x="838200" y="4693024"/>
            <a:ext cx="679557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sz="2800" dirty="0"/>
              <a:t>Leading to the update (to the original weight)</a:t>
            </a:r>
          </a:p>
          <a:p>
            <a:endParaRPr lang="en-VN" sz="2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89A67A7-8162-2F65-4BF1-5C5614D59C3E}"/>
                  </a:ext>
                </a:extLst>
              </p:cNvPr>
              <p:cNvSpPr txBox="1"/>
              <p:nvPr/>
            </p:nvSpPr>
            <p:spPr>
              <a:xfrm>
                <a:off x="4211157" y="5328335"/>
                <a:ext cx="3769685" cy="77405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  <m:r>
                        <m:rPr>
                          <m:sty m:val="p"/>
                        </m:rPr>
                        <a:rPr lang="en-US" sz="1800" b="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w</m:t>
                      </m:r>
                      <m:r>
                        <a:rPr lang="en-US" sz="1800" b="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1800" b="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w</m:t>
                      </m:r>
                      <m:r>
                        <a:rPr lang="en-US" sz="1800" b="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− </m:t>
                      </m:r>
                      <m:f>
                        <m:fPr>
                          <m:ctrlPr>
                            <a:rPr lang="en-US" sz="1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8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8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𝑞𝑢𝑎𝑛𝑡</m:t>
                          </m:r>
                          <m:d>
                            <m:dPr>
                              <m:ctrlPr>
                                <a:rPr lang="en-US" sz="18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8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18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sSubSup>
                            <m:sSubSupPr>
                              <m:ctrlPr>
                                <a:rPr lang="en-US" sz="18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8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sz="18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𝑗𝑗</m:t>
                              </m:r>
                            </m:sub>
                            <m:sup>
                              <m:r>
                                <a:rPr lang="en-US" sz="18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</m:den>
                      </m:f>
                      <m:sSub>
                        <m:sSubPr>
                          <m:ctrlPr>
                            <a:rPr lang="en-US" sz="1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sz="18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8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8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p>
                                  <m:r>
                                    <a:rPr lang="en-US" sz="18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</m:e>
                          </m:d>
                        </m:e>
                        <m:sub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:,</m:t>
                          </m:r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VN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89A67A7-8162-2F65-4BF1-5C5614D59C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1157" y="5328335"/>
                <a:ext cx="3769685" cy="774058"/>
              </a:xfrm>
              <a:prstGeom prst="rect">
                <a:avLst/>
              </a:prstGeom>
              <a:blipFill>
                <a:blip r:embed="rId4"/>
                <a:stretch>
                  <a:fillRect b="-3226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58BDD599-6255-B2CB-C80E-42FF385A7772}"/>
              </a:ext>
            </a:extLst>
          </p:cNvPr>
          <p:cNvSpPr txBox="1"/>
          <p:nvPr/>
        </p:nvSpPr>
        <p:spPr>
          <a:xfrm>
            <a:off x="410262" y="6313429"/>
            <a:ext cx="765145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400" i="1" dirty="0">
                <a:solidFill>
                  <a:srgbClr val="000000"/>
                </a:solidFill>
                <a:effectLst/>
                <a:latin typeface="Lucida Grande" panose="020B0600040502020204" pitchFamily="34" charset="0"/>
              </a:rPr>
              <a:t>GPTQ: Accurate Post-Training Quantization for Generative Pre-trained Transformers, </a:t>
            </a:r>
          </a:p>
          <a:p>
            <a:pPr algn="l"/>
            <a:r>
              <a:rPr lang="en-US" sz="1400" i="1" dirty="0">
                <a:solidFill>
                  <a:srgbClr val="000000"/>
                </a:solidFill>
                <a:effectLst/>
                <a:latin typeface="Lucida Grande" panose="020B0600040502020204" pitchFamily="34" charset="0"/>
              </a:rPr>
              <a:t>https://</a:t>
            </a:r>
            <a:r>
              <a:rPr lang="en-US" sz="1400" i="1" dirty="0" err="1">
                <a:solidFill>
                  <a:srgbClr val="000000"/>
                </a:solidFill>
                <a:effectLst/>
                <a:latin typeface="Lucida Grande" panose="020B0600040502020204" pitchFamily="34" charset="0"/>
              </a:rPr>
              <a:t>arxiv.org</a:t>
            </a:r>
            <a:r>
              <a:rPr lang="en-US" sz="1400" i="1" dirty="0">
                <a:solidFill>
                  <a:srgbClr val="000000"/>
                </a:solidFill>
                <a:effectLst/>
                <a:latin typeface="Lucida Grande" panose="020B0600040502020204" pitchFamily="34" charset="0"/>
              </a:rPr>
              <a:t>/abs/2210.17323</a:t>
            </a:r>
          </a:p>
          <a:p>
            <a:br>
              <a:rPr lang="en-US" sz="1400" dirty="0"/>
            </a:br>
            <a:endParaRPr lang="en-VN" sz="1400" dirty="0"/>
          </a:p>
        </p:txBody>
      </p:sp>
    </p:spTree>
    <p:extLst>
      <p:ext uri="{BB962C8B-B14F-4D97-AF65-F5344CB8AC3E}">
        <p14:creationId xmlns:p14="http://schemas.microsoft.com/office/powerpoint/2010/main" val="11122772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8969D-DD2F-792B-578B-DEE816F81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AWQ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528798-435B-6997-5B89-3765A0A70DC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31880"/>
                <a:ext cx="10515600" cy="4351338"/>
              </a:xfrm>
            </p:spPr>
            <p:txBody>
              <a:bodyPr/>
              <a:lstStyle/>
              <a:p>
                <a:r>
                  <a:rPr lang="en-US" dirty="0">
                    <a:latin typeface="Cambria Math" panose="02040503050406030204" pitchFamily="18" charset="0"/>
                  </a:rPr>
                  <a:t>Find best scaling for </a:t>
                </a:r>
                <a:r>
                  <a:rPr lang="en-US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nearest quantize</a:t>
                </a:r>
                <a:r>
                  <a:rPr lang="en-US" dirty="0">
                    <a:latin typeface="Cambria Math" panose="02040503050406030204" pitchFamily="18" charset="0"/>
                  </a:rPr>
                  <a:t>, per-channel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𝑄𝑢𝑎𝑛𝑡</m:t>
                                  </m:r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𝑊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.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𝑑𝑖𝑎𝑔</m:t>
                                      </m:r>
                                      <m:d>
                                        <m:d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e>
                                      </m:d>
                                    </m:e>
                                  </m:d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.</m:t>
                                  </m:r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𝑑𝑖𝑎𝑔</m:t>
                                      </m:r>
                                      <m:sSup>
                                        <m:sSup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d>
                                            <m:d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𝑠</m:t>
                                              </m:r>
                                            </m:e>
                                          </m:d>
                                        </m:e>
                                        <m:sup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sup>
                                      </m:s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</m:d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𝑊𝑋</m:t>
                                  </m:r>
                                </m:e>
                              </m:d>
                            </m:e>
                          </m:d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d>
                                <m:dPr>
                                  <m:begChr m:val=""/>
                                  <m:endChr m:val="|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VN">
                                      <a:latin typeface="Cambria Math" panose="02040503050406030204" pitchFamily="18" charset="0"/>
                                    </a:rPr>
                                    <m:t>​</m:t>
                                  </m:r>
                                </m:e>
                              </m:d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func>
                    </m:oMath>
                  </m:oMathPara>
                </a14:m>
                <a:endParaRPr lang="en-VN" dirty="0"/>
              </a:p>
              <a:p>
                <a:pPr marL="0" indent="0">
                  <a:buNone/>
                </a:pPr>
                <a:r>
                  <a:rPr lang="en-US" dirty="0">
                    <a:latin typeface="Cambria Math" panose="02040503050406030204" pitchFamily="18" charset="0"/>
                  </a:rPr>
                  <a:t>   Solving by finding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b="0" dirty="0">
                    <a:latin typeface="Cambria Math" panose="02040503050406030204" pitchFamily="18" charset="0"/>
                  </a:rPr>
                  <a:t>(with Grid Search)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sup>
                      </m:sSubSup>
                    </m:oMath>
                  </m:oMathPara>
                </a14:m>
                <a:endParaRPr lang="en-US" b="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[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,.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b="0" dirty="0">
                  <a:latin typeface="Cambria Math" panose="02040503050406030204" pitchFamily="18" charset="0"/>
                </a:endParaRPr>
              </a:p>
              <a:p>
                <a:endParaRPr lang="en-US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b="0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528798-435B-6997-5B89-3765A0A70D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31880"/>
                <a:ext cx="10515600" cy="4351338"/>
              </a:xfrm>
              <a:blipFill>
                <a:blip r:embed="rId2"/>
                <a:stretch>
                  <a:fillRect l="-1086" t="-21802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9CA73806-BF00-BE38-CDE8-199FACA18CF8}"/>
              </a:ext>
            </a:extLst>
          </p:cNvPr>
          <p:cNvSpPr txBox="1"/>
          <p:nvPr/>
        </p:nvSpPr>
        <p:spPr>
          <a:xfrm>
            <a:off x="1053353" y="5712569"/>
            <a:ext cx="44693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sz="2800" dirty="0">
                <a:solidFill>
                  <a:srgbClr val="FF0000"/>
                </a:solidFill>
              </a:rPr>
              <a:t>Simple, but better than GPTQ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72E8B0-DA01-A755-BB66-7AC4BD98128F}"/>
              </a:ext>
            </a:extLst>
          </p:cNvPr>
          <p:cNvSpPr txBox="1"/>
          <p:nvPr/>
        </p:nvSpPr>
        <p:spPr>
          <a:xfrm>
            <a:off x="959223" y="4299881"/>
            <a:ext cx="9345635" cy="12311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VN" sz="2800" dirty="0"/>
              <a:t>Input x larger is more important</a:t>
            </a:r>
          </a:p>
          <a:p>
            <a:pPr lvl="1"/>
            <a:r>
              <a:rPr lang="en-VN" sz="2800" dirty="0"/>
              <a:t>So upscale the weight for large channel -&gt; Reduce the error </a:t>
            </a:r>
          </a:p>
          <a:p>
            <a:endParaRPr lang="en-V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4C90923-BAA9-764C-2C1B-AFAF07E19E56}"/>
                  </a:ext>
                </a:extLst>
              </p:cNvPr>
              <p:cNvSpPr txBox="1"/>
              <p:nvPr/>
            </p:nvSpPr>
            <p:spPr>
              <a:xfrm>
                <a:off x="6151156" y="4915434"/>
                <a:ext cx="1782604" cy="3181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𝑒𝑟𝑟𝑜𝑟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VN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4C90923-BAA9-764C-2C1B-AFAF07E19E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1156" y="4915434"/>
                <a:ext cx="1782604" cy="318164"/>
              </a:xfrm>
              <a:prstGeom prst="rect">
                <a:avLst/>
              </a:prstGeom>
              <a:blipFill>
                <a:blip r:embed="rId3"/>
                <a:stretch>
                  <a:fillRect l="-1418" b="-18519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341D391B-E47B-31EB-E583-3071C007373A}"/>
              </a:ext>
            </a:extLst>
          </p:cNvPr>
          <p:cNvSpPr txBox="1"/>
          <p:nvPr/>
        </p:nvSpPr>
        <p:spPr>
          <a:xfrm>
            <a:off x="959223" y="6235789"/>
            <a:ext cx="849623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600" i="1" dirty="0">
                <a:solidFill>
                  <a:srgbClr val="000000"/>
                </a:solidFill>
                <a:effectLst/>
                <a:latin typeface="Lucida Grande" panose="020B0600040502020204" pitchFamily="34" charset="0"/>
              </a:rPr>
              <a:t>AWQ: Activation-aware Weight Quantization for LLM Compression and Acceleration</a:t>
            </a:r>
          </a:p>
          <a:p>
            <a:pPr algn="l"/>
            <a:r>
              <a:rPr lang="en-US" sz="1600" i="1" dirty="0">
                <a:solidFill>
                  <a:srgbClr val="000000"/>
                </a:solidFill>
                <a:effectLst/>
                <a:latin typeface="Lucida Grande" panose="020B0600040502020204" pitchFamily="34" charset="0"/>
              </a:rPr>
              <a:t>https://</a:t>
            </a:r>
            <a:r>
              <a:rPr lang="en-US" sz="1600" i="1" dirty="0" err="1">
                <a:solidFill>
                  <a:srgbClr val="000000"/>
                </a:solidFill>
                <a:effectLst/>
                <a:latin typeface="Lucida Grande" panose="020B0600040502020204" pitchFamily="34" charset="0"/>
              </a:rPr>
              <a:t>arxiv.org</a:t>
            </a:r>
            <a:r>
              <a:rPr lang="en-US" sz="1600" i="1" dirty="0">
                <a:solidFill>
                  <a:srgbClr val="000000"/>
                </a:solidFill>
                <a:effectLst/>
                <a:latin typeface="Lucida Grande" panose="020B0600040502020204" pitchFamily="34" charset="0"/>
              </a:rPr>
              <a:t>/abs/2306.00978</a:t>
            </a:r>
          </a:p>
          <a:p>
            <a:br>
              <a:rPr lang="en-US" sz="1600" i="1" dirty="0"/>
            </a:br>
            <a:endParaRPr lang="en-VN" sz="1600" i="1" dirty="0"/>
          </a:p>
        </p:txBody>
      </p:sp>
    </p:spTree>
    <p:extLst>
      <p:ext uri="{BB962C8B-B14F-4D97-AF65-F5344CB8AC3E}">
        <p14:creationId xmlns:p14="http://schemas.microsoft.com/office/powerpoint/2010/main" val="6590430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8B476-49E6-B19F-D111-34C446C74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Smart Flipping (Ours)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D6505F-1119-3A3D-9385-7A79DAA1DF5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VN" dirty="0"/>
                  <a:t>Consider the objective function: Minizing the direct dot product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arg</m:t>
                          </m:r>
                        </m:fName>
                        <m:e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min</m:t>
                                  </m:r>
                                </m:e>
                                <m:lim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𝑊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sub>
                                  </m:sSub>
                                </m:lim>
                              </m:limLow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||</m:t>
                              </m:r>
                            </m:fNam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,.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]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𝑊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 − 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  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,.</m:t>
                                          </m:r>
                                        </m:sub>
                                      </m:sSub>
                                    </m:e>
                                  </m:d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𝑊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Sup>
                                <m:sSub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d>
                                    <m:dPr>
                                      <m:begChr m:val=""/>
                                      <m:endChr m:val="|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VN">
                                          <a:latin typeface="Cambria Math" panose="02040503050406030204" pitchFamily="18" charset="0"/>
                                        </a:rPr>
                                        <m:t>​</m:t>
                                      </m:r>
                                    </m:e>
                                  </m:d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func>
                        </m:e>
                      </m:func>
                    </m:oMath>
                  </m:oMathPara>
                </a14:m>
                <a:endParaRPr lang="en-VN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,.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</m:sup>
                    </m:sSup>
                  </m:oMath>
                </a14:m>
                <a:r>
                  <a:rPr lang="en-VN" dirty="0"/>
                  <a:t>: Expectation over samples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D6505F-1119-3A3D-9385-7A79DAA1DF5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1802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792197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FEB90-2FCD-8967-4EE4-A65CA16C6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Fast (Heuristics) Algorithm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4C343C1-A652-3065-A109-54AAC0F54AA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VN" dirty="0"/>
                  <a:t>Given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</m:oMath>
                </a14:m>
                <a:r>
                  <a:rPr lang="en-VN" dirty="0"/>
                  <a:t> be a quantization solution of some algorithm (e.g. nearest quantize, or AWQ), we will find a flipping strategy to change the quantize value to directly reduce the dot product error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4C343C1-A652-3065-A109-54AAC0F54A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035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61D2666-1740-3EA9-A5C7-82FEF5FE766F}"/>
              </a:ext>
            </a:extLst>
          </p:cNvPr>
          <p:cNvCxnSpPr/>
          <p:nvPr/>
        </p:nvCxnSpPr>
        <p:spPr>
          <a:xfrm>
            <a:off x="2918012" y="3805518"/>
            <a:ext cx="1882588" cy="0"/>
          </a:xfrm>
          <a:prstGeom prst="line">
            <a:avLst/>
          </a:prstGeom>
          <a:ln w="19050"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453F5D9-0C42-F5D3-63D5-64A75DC0B2EE}"/>
                  </a:ext>
                </a:extLst>
              </p:cNvPr>
              <p:cNvSpPr txBox="1"/>
              <p:nvPr/>
            </p:nvSpPr>
            <p:spPr>
              <a:xfrm>
                <a:off x="2605394" y="4001294"/>
                <a:ext cx="610424" cy="4268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sub>
                          </m:sSub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VN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453F5D9-0C42-F5D3-63D5-64A75DC0B2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5394" y="4001294"/>
                <a:ext cx="610424" cy="42684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4DB8FC1-CC55-C71E-9B9D-010CF929F2BD}"/>
                  </a:ext>
                </a:extLst>
              </p:cNvPr>
              <p:cNvSpPr txBox="1"/>
              <p:nvPr/>
            </p:nvSpPr>
            <p:spPr>
              <a:xfrm>
                <a:off x="4495388" y="4026927"/>
                <a:ext cx="615745" cy="4268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sub>
                          </m:sSub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VN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4DB8FC1-CC55-C71E-9B9D-010CF929F2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5388" y="4026927"/>
                <a:ext cx="615745" cy="42684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12AC2C7-5094-5767-A2AA-3E52A71D0812}"/>
                  </a:ext>
                </a:extLst>
              </p:cNvPr>
              <p:cNvSpPr txBox="1"/>
              <p:nvPr/>
            </p:nvSpPr>
            <p:spPr>
              <a:xfrm>
                <a:off x="3215818" y="3301249"/>
                <a:ext cx="4142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en-VN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12AC2C7-5094-5767-A2AA-3E52A71D08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5818" y="3301249"/>
                <a:ext cx="414216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Oval 11">
            <a:extLst>
              <a:ext uri="{FF2B5EF4-FFF2-40B4-BE49-F238E27FC236}">
                <a16:creationId xmlns:a16="http://schemas.microsoft.com/office/drawing/2014/main" id="{DB2900F0-CA20-9F0D-927F-B6B96DD4BCD2}"/>
              </a:ext>
            </a:extLst>
          </p:cNvPr>
          <p:cNvSpPr/>
          <p:nvPr/>
        </p:nvSpPr>
        <p:spPr>
          <a:xfrm>
            <a:off x="3442447" y="3751730"/>
            <a:ext cx="187587" cy="18758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25B6ED1-3087-E7C8-6A35-F0B67B530628}"/>
              </a:ext>
            </a:extLst>
          </p:cNvPr>
          <p:cNvSpPr txBox="1"/>
          <p:nvPr/>
        </p:nvSpPr>
        <p:spPr>
          <a:xfrm>
            <a:off x="885630" y="3681691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dirty="0"/>
              <a:t>Nearest rouding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ADC535B-6185-00BD-85CF-889ACB44C542}"/>
              </a:ext>
            </a:extLst>
          </p:cNvPr>
          <p:cNvSpPr txBox="1"/>
          <p:nvPr/>
        </p:nvSpPr>
        <p:spPr>
          <a:xfrm>
            <a:off x="5111133" y="3773561"/>
            <a:ext cx="17086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dirty="0">
                <a:solidFill>
                  <a:srgbClr val="FF0000"/>
                </a:solidFill>
              </a:rPr>
              <a:t>Flipped rouding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E485E16-2C86-463A-9ADB-55FC59712F61}"/>
                  </a:ext>
                </a:extLst>
              </p:cNvPr>
              <p:cNvSpPr txBox="1"/>
              <p:nvPr/>
            </p:nvSpPr>
            <p:spPr>
              <a:xfrm>
                <a:off x="7542243" y="3485915"/>
                <a:ext cx="322819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VN" dirty="0"/>
                  <a:t>Change absolute error by: </a:t>
                </a:r>
                <a14:m>
                  <m:oMath xmlns:m="http://schemas.openxmlformats.org/officeDocument/2006/math">
                    <m:r>
                      <a:rPr lang="en-V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VN" dirty="0"/>
                  <a:t>|x|</a:t>
                </a:r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E485E16-2C86-463A-9ADB-55FC59712F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2243" y="3485915"/>
                <a:ext cx="3228191" cy="369332"/>
              </a:xfrm>
              <a:prstGeom prst="rect">
                <a:avLst/>
              </a:prstGeom>
              <a:blipFill>
                <a:blip r:embed="rId6"/>
                <a:stretch>
                  <a:fillRect l="-1563" t="-6667" r="-391" b="-26667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E97A6EA-D04A-4906-6B93-DEEC4A872430}"/>
              </a:ext>
            </a:extLst>
          </p:cNvPr>
          <p:cNvCxnSpPr/>
          <p:nvPr/>
        </p:nvCxnSpPr>
        <p:spPr>
          <a:xfrm>
            <a:off x="2910606" y="4679576"/>
            <a:ext cx="0" cy="10488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84DB277-46DC-990B-7CB1-AD865A3A07E0}"/>
              </a:ext>
            </a:extLst>
          </p:cNvPr>
          <p:cNvCxnSpPr/>
          <p:nvPr/>
        </p:nvCxnSpPr>
        <p:spPr>
          <a:xfrm>
            <a:off x="4770782" y="4679576"/>
            <a:ext cx="0" cy="10488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FAE3341-59BE-2218-E796-697B17909B40}"/>
              </a:ext>
            </a:extLst>
          </p:cNvPr>
          <p:cNvCxnSpPr/>
          <p:nvPr/>
        </p:nvCxnSpPr>
        <p:spPr>
          <a:xfrm>
            <a:off x="2918012" y="5204011"/>
            <a:ext cx="185277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D0CB7C8-1B42-A025-7EBE-7D28824FF17F}"/>
                  </a:ext>
                </a:extLst>
              </p:cNvPr>
              <p:cNvSpPr txBox="1"/>
              <p:nvPr/>
            </p:nvSpPr>
            <p:spPr>
              <a:xfrm>
                <a:off x="3215818" y="5983941"/>
                <a:ext cx="14857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VN" dirty="0"/>
                  <a:t>Resolution </a:t>
                </a:r>
                <a14:m>
                  <m:oMath xmlns:m="http://schemas.openxmlformats.org/officeDocument/2006/math">
                    <m:r>
                      <a:rPr lang="en-V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</m:oMath>
                </a14:m>
                <a:endParaRPr lang="en-VN" dirty="0"/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D0CB7C8-1B42-A025-7EBE-7D28824FF1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5818" y="5983941"/>
                <a:ext cx="1485728" cy="369332"/>
              </a:xfrm>
              <a:prstGeom prst="rect">
                <a:avLst/>
              </a:prstGeom>
              <a:blipFill>
                <a:blip r:embed="rId7"/>
                <a:stretch>
                  <a:fillRect l="-3390" t="-10000" b="-23333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751982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A0A20-6D2D-1D5A-0019-04DA75970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6774" y="-10067"/>
            <a:ext cx="10515600" cy="1325563"/>
          </a:xfrm>
        </p:spPr>
        <p:txBody>
          <a:bodyPr/>
          <a:lstStyle/>
          <a:p>
            <a:r>
              <a:rPr lang="en-VN" dirty="0"/>
              <a:t>The distribution of |x|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F923FE7-6EEE-7780-94A1-ACBF4E219866}"/>
                  </a:ext>
                </a:extLst>
              </p14:cNvPr>
              <p14:cNvContentPartPr/>
              <p14:nvPr/>
            </p14:nvContentPartPr>
            <p14:xfrm>
              <a:off x="5392885" y="2812299"/>
              <a:ext cx="3911760" cy="23832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F923FE7-6EEE-7780-94A1-ACBF4E21986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383885" y="2803299"/>
                <a:ext cx="3929400" cy="2400840"/>
              </a:xfrm>
              <a:prstGeom prst="rect">
                <a:avLst/>
              </a:prstGeom>
            </p:spPr>
          </p:pic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5143083-539F-D714-BDB2-29F0F5AE2479}"/>
              </a:ext>
            </a:extLst>
          </p:cNvPr>
          <p:cNvCxnSpPr>
            <a:cxnSpLocks/>
          </p:cNvCxnSpPr>
          <p:nvPr/>
        </p:nvCxnSpPr>
        <p:spPr>
          <a:xfrm flipV="1">
            <a:off x="5392885" y="1990165"/>
            <a:ext cx="0" cy="32053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A119663-E6F7-4453-50DD-4DB7D7F8B5DF}"/>
              </a:ext>
            </a:extLst>
          </p:cNvPr>
          <p:cNvCxnSpPr>
            <a:cxnSpLocks/>
          </p:cNvCxnSpPr>
          <p:nvPr/>
        </p:nvCxnSpPr>
        <p:spPr>
          <a:xfrm>
            <a:off x="5392885" y="5200433"/>
            <a:ext cx="428899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D005611-6FD8-8761-B874-E740FC6C70B7}"/>
              </a:ext>
            </a:extLst>
          </p:cNvPr>
          <p:cNvSpPr txBox="1"/>
          <p:nvPr/>
        </p:nvSpPr>
        <p:spPr>
          <a:xfrm rot="16200000">
            <a:off x="4297977" y="3022458"/>
            <a:ext cx="1212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dirty="0"/>
              <a:t>Magnitude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1F99214-4838-21DC-E4B1-2057C9EC5C24}"/>
              </a:ext>
            </a:extLst>
          </p:cNvPr>
          <p:cNvSpPr txBox="1"/>
          <p:nvPr/>
        </p:nvSpPr>
        <p:spPr>
          <a:xfrm>
            <a:off x="7094820" y="5463635"/>
            <a:ext cx="15094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dirty="0"/>
              <a:t>Sorted indices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15A8366-5D6D-CFF9-A9B1-024CA2C3A6B5}"/>
              </a:ext>
            </a:extLst>
          </p:cNvPr>
          <p:cNvSpPr/>
          <p:nvPr/>
        </p:nvSpPr>
        <p:spPr>
          <a:xfrm>
            <a:off x="6271045" y="4195482"/>
            <a:ext cx="210438" cy="21043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C40C397-8168-6336-E52C-2C030B047312}"/>
              </a:ext>
            </a:extLst>
          </p:cNvPr>
          <p:cNvCxnSpPr/>
          <p:nvPr/>
        </p:nvCxnSpPr>
        <p:spPr>
          <a:xfrm flipV="1">
            <a:off x="4289612" y="4424082"/>
            <a:ext cx="1846962" cy="12242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FDE3D1B2-89FE-0C44-0CE7-A58C2B0D477F}"/>
              </a:ext>
            </a:extLst>
          </p:cNvPr>
          <p:cNvSpPr txBox="1"/>
          <p:nvPr/>
        </p:nvSpPr>
        <p:spPr>
          <a:xfrm>
            <a:off x="3697941" y="5648301"/>
            <a:ext cx="1200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dirty="0"/>
              <a:t>Knee point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53B5837-830E-CB9E-C759-FB522B37FA1A}"/>
              </a:ext>
            </a:extLst>
          </p:cNvPr>
          <p:cNvCxnSpPr/>
          <p:nvPr/>
        </p:nvCxnSpPr>
        <p:spPr>
          <a:xfrm>
            <a:off x="6376264" y="1690688"/>
            <a:ext cx="0" cy="23132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E0BD056E-A843-3A30-4E82-0354FE5CDF51}"/>
              </a:ext>
            </a:extLst>
          </p:cNvPr>
          <p:cNvSpPr/>
          <p:nvPr/>
        </p:nvSpPr>
        <p:spPr>
          <a:xfrm>
            <a:off x="5392884" y="1690687"/>
            <a:ext cx="983380" cy="3924979"/>
          </a:xfrm>
          <a:prstGeom prst="rect">
            <a:avLst/>
          </a:prstGeom>
          <a:solidFill>
            <a:schemeClr val="accent1">
              <a:lumMod val="60000"/>
              <a:lumOff val="40000"/>
              <a:alpha val="47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34B2FFC-18AC-FE13-AF04-0684EA285AE1}"/>
              </a:ext>
            </a:extLst>
          </p:cNvPr>
          <p:cNvSpPr txBox="1"/>
          <p:nvPr/>
        </p:nvSpPr>
        <p:spPr>
          <a:xfrm>
            <a:off x="5352801" y="1197196"/>
            <a:ext cx="42049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dirty="0"/>
              <a:t>Protected area: </a:t>
            </a:r>
            <a:r>
              <a:rPr lang="en-VN" i="1" dirty="0">
                <a:solidFill>
                  <a:srgbClr val="FF0000"/>
                </a:solidFill>
              </a:rPr>
              <a:t>Big inputs are too sensitive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0494B10-920F-CB90-3776-BD828A5561DC}"/>
              </a:ext>
            </a:extLst>
          </p:cNvPr>
          <p:cNvSpPr/>
          <p:nvPr/>
        </p:nvSpPr>
        <p:spPr>
          <a:xfrm>
            <a:off x="6384524" y="2779664"/>
            <a:ext cx="638470" cy="2836002"/>
          </a:xfrm>
          <a:prstGeom prst="rect">
            <a:avLst/>
          </a:prstGeom>
          <a:solidFill>
            <a:schemeClr val="accent1">
              <a:lumMod val="60000"/>
              <a:lumOff val="40000"/>
              <a:alpha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05B937E-B10F-85BB-53C9-A51F711E6158}"/>
              </a:ext>
            </a:extLst>
          </p:cNvPr>
          <p:cNvCxnSpPr/>
          <p:nvPr/>
        </p:nvCxnSpPr>
        <p:spPr>
          <a:xfrm>
            <a:off x="5392883" y="2205318"/>
            <a:ext cx="90357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75A90E7C-3B57-8A68-9C8F-112DF8FAB7EB}"/>
              </a:ext>
            </a:extLst>
          </p:cNvPr>
          <p:cNvCxnSpPr>
            <a:cxnSpLocks/>
          </p:cNvCxnSpPr>
          <p:nvPr/>
        </p:nvCxnSpPr>
        <p:spPr>
          <a:xfrm>
            <a:off x="6384524" y="3225054"/>
            <a:ext cx="63847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B41038C7-DC25-0E74-0630-7330E3D8EB40}"/>
              </a:ext>
            </a:extLst>
          </p:cNvPr>
          <p:cNvSpPr txBox="1"/>
          <p:nvPr/>
        </p:nvSpPr>
        <p:spPr>
          <a:xfrm>
            <a:off x="7094820" y="2366682"/>
            <a:ext cx="29481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dirty="0"/>
              <a:t>Flipping Candidate  area (p%)</a:t>
            </a:r>
          </a:p>
          <a:p>
            <a:r>
              <a:rPr lang="en-VN" dirty="0"/>
              <a:t>Morderate inputs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33CAF83-0CF4-73D0-B9C0-8F75B5C64E74}"/>
              </a:ext>
            </a:extLst>
          </p:cNvPr>
          <p:cNvSpPr txBox="1"/>
          <p:nvPr/>
        </p:nvSpPr>
        <p:spPr>
          <a:xfrm>
            <a:off x="7368988" y="6239435"/>
            <a:ext cx="40017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dirty="0"/>
              <a:t>Number of the inp_feature dimension (I)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2CB3D4F-7E9D-DF26-283C-5738273F34AB}"/>
              </a:ext>
            </a:extLst>
          </p:cNvPr>
          <p:cNvSpPr txBox="1"/>
          <p:nvPr/>
        </p:nvSpPr>
        <p:spPr>
          <a:xfrm>
            <a:off x="793376" y="1690687"/>
            <a:ext cx="44268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dirty="0"/>
              <a:t>Use to find the indices’ of weight to consider </a:t>
            </a:r>
          </a:p>
          <a:p>
            <a:r>
              <a:rPr lang="en-US" dirty="0"/>
              <a:t>T</a:t>
            </a:r>
            <a:r>
              <a:rPr lang="en-VN" dirty="0"/>
              <a:t>o flip</a:t>
            </a:r>
          </a:p>
        </p:txBody>
      </p:sp>
    </p:spTree>
    <p:extLst>
      <p:ext uri="{BB962C8B-B14F-4D97-AF65-F5344CB8AC3E}">
        <p14:creationId xmlns:p14="http://schemas.microsoft.com/office/powerpoint/2010/main" val="22430333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F04AC-7A49-52C6-2B39-28DC2621D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Using </a:t>
            </a:r>
            <a:r>
              <a:rPr lang="en-US" dirty="0"/>
              <a:t>James-Stein Mean Estimation</a:t>
            </a:r>
            <a:endParaRPr lang="en-V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973BF79-234E-9458-469B-0ED4E05681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83379" y="4662209"/>
            <a:ext cx="6413500" cy="1371600"/>
          </a:xfr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018FA24-4E76-0DD0-0058-658F6F75191B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The Problem:</a:t>
            </a:r>
            <a:r>
              <a:rPr lang="en-US" dirty="0"/>
              <a:t> In high dimensions (k&gt;=3), the standard Maximum Likelihood Estimator (MLE) is "inadmissible”, meaning there is always a better way to estimate the mean.</a:t>
            </a:r>
          </a:p>
          <a:p>
            <a:r>
              <a:rPr lang="en-US" b="1" dirty="0"/>
              <a:t>The Solution:</a:t>
            </a:r>
            <a:r>
              <a:rPr lang="en-US" dirty="0"/>
              <a:t> By pulling all estimates toward a central point (usually zero), we reduce the total Mean Squared Error (MSE), even if the individual parameters are unrelated.</a:t>
            </a:r>
          </a:p>
        </p:txBody>
      </p:sp>
    </p:spTree>
    <p:extLst>
      <p:ext uri="{BB962C8B-B14F-4D97-AF65-F5344CB8AC3E}">
        <p14:creationId xmlns:p14="http://schemas.microsoft.com/office/powerpoint/2010/main" val="32246265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5C151-C1E7-3174-B1FD-EEBD19805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The procedure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CAC136B-18D0-EFE4-F9EE-2369A257D8D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514350" indent="-514350">
                  <a:buFont typeface="Arial" panose="020B0604020202020204" pitchFamily="34" charset="0"/>
                  <a:buAutoNum type="arabicParenR"/>
                </a:pPr>
                <a:r>
                  <a:rPr lang="en-VN" dirty="0"/>
                  <a:t>Find the JS mean estimation of  X: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𝐽𝑆</m:t>
                        </m:r>
                      </m:sub>
                    </m:sSub>
                  </m:oMath>
                </a14:m>
                <a:endParaRPr lang="en-VN" dirty="0"/>
              </a:p>
              <a:p>
                <a:pPr marL="514350" indent="-514350">
                  <a:buAutoNum type="arabicParenR"/>
                </a:pPr>
                <a:r>
                  <a:rPr lang="en-VN" dirty="0"/>
                  <a:t>Sorted the Magnitude |</a:t>
                </a:r>
                <a:r>
                  <a:rPr lang="en-US" b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𝐽𝑆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VN" dirty="0"/>
                  <a:t>| in the decending order</a:t>
                </a:r>
              </a:p>
              <a:p>
                <a:pPr marL="514350" indent="-514350">
                  <a:buAutoNum type="arabicParenR"/>
                </a:pPr>
                <a:r>
                  <a:rPr lang="en-VN" dirty="0"/>
                  <a:t>Find knee-point index, and select the candidate indices S</a:t>
                </a:r>
              </a:p>
              <a:p>
                <a:pPr marL="0" indent="0">
                  <a:buNone/>
                </a:pPr>
                <a:r>
                  <a:rPr lang="en-VN" dirty="0"/>
                  <a:t>4)   For the weight with the index in S, if the flipping reduce the dot proeduct error -&gt; Flip the weight. Stop when can not reduce the weight</a:t>
                </a:r>
              </a:p>
              <a:p>
                <a:endParaRPr lang="en-V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CAC136B-18D0-EFE4-F9EE-2369A257D8D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 r="-724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112861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7DAC0-EF8E-F93F-BA5F-5EBBDE817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Performance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0BBA7D5-E0E9-77ED-DCF2-85B84628DE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61263" y="1928951"/>
            <a:ext cx="9069473" cy="3837781"/>
          </a:xfrm>
        </p:spPr>
      </p:pic>
    </p:spTree>
    <p:extLst>
      <p:ext uri="{BB962C8B-B14F-4D97-AF65-F5344CB8AC3E}">
        <p14:creationId xmlns:p14="http://schemas.microsoft.com/office/powerpoint/2010/main" val="28642478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203</TotalTime>
  <Words>567</Words>
  <Application>Microsoft Macintosh PowerPoint</Application>
  <PresentationFormat>Widescreen</PresentationFormat>
  <Paragraphs>77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Google Sans</vt:lpstr>
      <vt:lpstr>Google Sans Text</vt:lpstr>
      <vt:lpstr>Arial</vt:lpstr>
      <vt:lpstr>Calibri</vt:lpstr>
      <vt:lpstr>Calibri Light</vt:lpstr>
      <vt:lpstr>Cambria Math</vt:lpstr>
      <vt:lpstr>Lucida Grande</vt:lpstr>
      <vt:lpstr>Office Theme</vt:lpstr>
      <vt:lpstr>Post-correction: Increasing quantization performance with smart flipping</vt:lpstr>
      <vt:lpstr>Weight-Only Layer-wise Post-Training Quantization </vt:lpstr>
      <vt:lpstr>Objective function </vt:lpstr>
      <vt:lpstr>GPTQ</vt:lpstr>
      <vt:lpstr>AWQ</vt:lpstr>
      <vt:lpstr>Smart Flipping (Ours)</vt:lpstr>
      <vt:lpstr>Fast (Heuristics) Algorithm</vt:lpstr>
      <vt:lpstr>The distribution of |x|</vt:lpstr>
      <vt:lpstr>Using James-Stein Mean Estimation</vt:lpstr>
      <vt:lpstr>The procedure</vt:lpstr>
      <vt:lpstr>Performance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Anh Nguyen</dc:creator>
  <cp:lastModifiedBy>Anh Nguyen</cp:lastModifiedBy>
  <cp:revision>56</cp:revision>
  <dcterms:created xsi:type="dcterms:W3CDTF">2026-01-30T02:57:51Z</dcterms:created>
  <dcterms:modified xsi:type="dcterms:W3CDTF">2026-01-30T06:21:37Z</dcterms:modified>
</cp:coreProperties>
</file>